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200" y="4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https://uml.planttext.com/plantuml/png/bLVBRjj65DtpAowywQAGlHVG8B8aep8aMHMLfWjlQ6ea4wOuwd3an2WAn7RpA9msRP55L-skQ-TXn75YvnV8N-YNzDmPKg9f9qvjW1xEd7ldt2UlRyVQKtes2Hqd52DDMf8AnjkQXe4IlWvavCGxGJJrb3SXNqwcCXAHTlLUA8W1NZGEHG4ozVmTRopA04S76Xl9y-GqEKvUfG_mV8_VOqhUOFaoEKttSVG-kKZtquFa97bBlNgdkLP9ZjC7wKCSy-PPUf0UulqeKzUATaMi9o14jV5OYR6dfQ9UwEcHL1F7yNn-Nx8mgPR8Yob_SPoCAYrrv5O0RVKmWARDg2yWHrrF1xk2lgJ1tbIulWgcUeb-S1nQU86MUah4M7Zi9sfxUqBbuf0G8eetepijgkS2iM5G52hfSx4hgED5u3KnPC3jEtB1Lq1NpGJ4QZ7GadYjrvfRKRiVo9ZwJNSmtseCDg1xEXNM4q2NvDlIzqAgU_wss8pSRze1oAnGBTwBVAO0KaRG09mV2nvSnK94GmXDLH2DQLNAQxnLbv5MCimTTRkFG6Hx8M-uzxpnM2WcPk-nPoKj7J4CJ9npDQvGku4FngkpE8X475DRZWFVgCZ19HtD20cqbsjOxzN8x0Jiv8QSU4547JaKeNMrHPTKhCbPD2m5VYhZ09SPDStxMgW8xcn5MeoLjuZSGf9zY9MtvSLmOa_66aaClnjOOzLn_53EXd2laZlMBrQ3VJVnon0TJ-q8JGqeMy3iPX7cTWOzolnbimWRyzFUBDwchjJ1AF0BV7dRSRwWhpxsWxDwkzNi3gZHx3MxZMQttcgwdvHmyZAaIkNMfOgWAg5a0ZXDURR_E9UE6M_Bf4eJeRVba92qeQqqiSjLvZWMm50kYQej0oM-d-5E8DVl3j3eaB55fCbgO4DJ14fumvLxAk0Q-npJAswp_ssp_scZcOovAYk4Adqz6FHSGszbtTteRaORKn4np6S8773JxVRQ_-7u_6xcCI-bAiKsAN9VSglOzS8WorDdZcInh7ggDBIb8j5HRBviHbjv3QfPAEAIOA5cgl1mLYvxvFa-H3OZaTTCKAWPnoc8iPR6AgJN6wjrz2OKovNpUNLaWJUUjPw-WfsNI8wzAxPSYMQchq1DxLJjdwcIMlhScaeWKq9vMFE4koc6hUwWsL-hrMyAdIcAaOSeBPc4Dkq-ovDvvgnaNTIKBiFgyqmgoFU4YeDOYyWNfa6PxNdxDcq4NT6M_m9whQgiEHNQtBo1swE551DUNhvrcLQUa5SE5hd3HzVHA3Z_Ov0ofaHfaIlN7DuGjaPjKAErziRT6y8MINGOBQSaH-QRIvJyZJdd8Bb8pYXvZV7dF3bFZzA7LHoPN4NryH9TgZRJssXfMJ_6farZV6k9rLvMFl_OuOP_C2wTOrpYGUjT-XHN7AVFA7c18UiDNaxI_Kho3WnUOUCiEUQhAvIDPYVOFKuVOUXwHXZ77WFDP5_cc7FMQKOo8sks6G7HLunBZv8Jmk8311zOJScfGKc57XjhcoPbAxQardB2XXI-a33bJnZoar6qpmQbX_aSo5x3e8Z9aIrvozXJa0Ebv0EmXuOauy4_C_3tvBbTl3HEU8BdASZQi5JOFoVm3rF7RJWqusZwr1mADBjmPSeLZZCspOojc4PBXjW16dROGObeOpGAqHKheq35cg3y8dcDeHPFfcNOd-LnCYR1mb_I9pWpK_5v-X2NNHYkRnOcuUfd37bik80tBUQ_0gKRUa-djz4VrF3jxjzfDpyZaMsKcFPlLoTpzXZ7_eF9ExY7RMCRJGwScO0mtNsisU_N3l-dTfjrdAG_cpm-MkRf2_yz83Aunw0OpohEComhUiTerintNXeR_dtqHpOsO8L3TXNlvTs7r_D-Oo7sCxTII4Rcy5VomkJYWGdLnqsuC04wDCy3rCHX-cjwi5o8osqiyN_NVm00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https://uml.planttext.com/plantuml/png/nLTjRzis4FxENy5b7vOQIv2qy30OHL75ebSjVfiYf-s-28n4suJrDefEOJG5zYFs2_TBTgBUA5b9d0HORSCW-HoFTm-FlEFxL58Xjs60hUYMfT9OhJ2niSdfIj0GeH_aceKC9m7b4KetF4eeZEE0Hqpk4ePZ8TUn1eXu6_bUB28cS5yRzmAQflWhmlY2UfkL4Xl6GIpmZoEIVJCa5ZuJnUWRzO5HGuZuIp7OLn_q3Q4rzndskF02bhT31eRuAK8_uN__-Jl_OH9jmxJkVwyVGWmCmORdWTloIbAvpRamXevrdRbka-lP9J6XHMnxPcSUgYcpZ16J2-P97aSvVulFy7z5nkEcbAPsJgQcDVqDMYDhF5PgXyPqI8gsJNudGmUQvNn7q2YbQWadszHCXqdciolBWTP7o_bWsiP7OznS7MIiQyk4jIf5qrZo9VTeGzFCDedjLfRaNTsUgy_JePlx3RRRrf2unfZOJgNMPWd4MQLmJkpHp9va6g3d69yo7OxXa0cPjYUDOX5IcKypHnaHLzUPI3DA99USVRz0oIm64tRuQ9ioaHvXck85j9JPFTphSR_NmmEyM5WcVljsVldk7G0d9mfb8UK1WDU6FVnWsCUl-_rN8BIOMdyiY1BiuGGEtnSuNIqnXNc2KSby5rWQOCUQ4A1oCdV-1D1d0Uk4ljKMtuXumuGo-K8r3p8wed2frCQSdvtjsKmJxjxGL1VhWvZ2UEfcuNgRWHUpsPWOquTzqGpcwfuBeGiwr85KnblLS75C3_8Zso-N-pKykYpCptdfnefrNGZJ6o2ioOC-My9_bBb2FZcDcMb-s0VDEmL4qbtaTM_cYtSwEqxBEE2nucjUzfxFKtl7lQqGBF9s6Y5l7ebHpJm8SPPlfP6r3ZAhSgbxdoJtDetzUQssfnMyrKdwIsQccsHeJOpnyVclF_-IZzFRbPi8xh5Ez7wljud_gDTIK9-vAd4gtvsih_B1GGIKyVGKztlOhnBIe9MX7kJXVWwK_NLGQ_aCuE8iv3Ayymw3ykIUg5_o87X-oCiwCPRiblsNqgkviyTxlOghYgn1EqFdoaDrJJqjfc9FOSzc9AHYmwGBWKaL8nFLDw5x427tXjJJpqSQRuNNJY9gnf99R_s87v5MgIX7zDBbXLU_hhlSm7PbLB0XWuwRv2RsT_gb3zaExZ__6RbEg1f8-PUNGo_qx97xCb-kTBcksdHmcHTaWqPzfWjKjq0pHE0WCpUXSjrL3oHCyDXtbo8EE_9UWSgu0rinUAdSowDU9TeiKBkNhddoFvQA2AbAyExkv2J-sb6b3F3H-M1wL4lTtMcvMQ7dHmqTZKZVcmu2HQYK42hgkaTDGFjGCKVBIgNmGxBL7LjfhZqgfF8SN-9xSDi5pO3kPSvEJtF9zlCHJWDTCNmCZqmVQZ5u-6vI346C0xgBj_BLGP60KFFjTtgwJoDglVL0fhOQwK-y9j9-lELeEOJsdcI0wsD8Urm1bFTGu_5K3wFtBFAtOO3-0m00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https://uml.planttext.com/plantuml/png/VLN9RXD14BttLvHy3uhN92Yo0fou8H0tBYExCrWUZwEPCH92I5umFaJ292TEB1-0D75inV6MNwZ-8wfx5hjxJ2xML5UzglUggjjdVc1vGQVbCERmym22DdWD-tq0zOR7Qq6ZxJA_sN0lBCzgmOLLQresVnDyT3X8j-NQ3cVCgWLj3tBu0zSumPdeYJvkH3S7bWyltG_S9tSQT2MwkC45XKK1pxrsas_Tlt66jsA0Ip7UoVAQsnt7acbOMXToKUuMTmDuPjiUjsK4lAB0yxRNoi4dnW0wFgzPFazIurpI8mwX-4hVOvN-xOky5laT9r5ndEET4LdG8gyfggS4XoH-G_ANL6LDk1dWL3dxfEO1mnXUr3dz8ioKkh4KtyHeYxpPDYb5bZJW7mfSYw6AM-_I12f9cIH_dCJGibvJWaGFL_HBdG1YHrBfymiHMAP2A-nnb1GSajmvbPeJrtcCEp9Q6KVXNTIGeLAyZbgJWex_2v93eBAB7JadMl1VN90_rW2AtKXSQVhpXyneteOQDbKIPB_ZOT-g0Mxm7bGxnsHiPUNr5Vb9c0Sv7HKKQWXjVcAG92Xa9hyKWvsfHsiazuNqX6GIGnh8BeSzssFaw8fBrTmHRSUb64AiKXb9bjAZIcXTwHBBMT6iass-Jx3bFLkXBdqt0lV8f16eexvID95R-Swb0EDcIrAu0dKRPtYZygY9K1zNIRqA-ynOyeZ0mK5LNLRZe60U53EOadbGDWyg6SnHfl1Xbak6Z1nIzAYbbJIJza2tYuPTOYnzxv8p8aTyu8aqZk4fd9ust9hJgVDgTUiuCHnCqejS-KBMLuvTfJsmGkohcBupxjRfx-8V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Investment Aggregator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AAAAAA"/>
                </a:solidFill>
              </a:defRPr>
            </a:pPr>
            <a:r>
              <a:rPr dirty="0"/>
              <a:t>Курсовой </a:t>
            </a:r>
            <a:r>
              <a:rPr dirty="0" err="1"/>
              <a:t>проект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дисциплине</a:t>
            </a:r>
            <a:r>
              <a:rPr dirty="0"/>
              <a:t> «</a:t>
            </a:r>
            <a:r>
              <a:rPr dirty="0" err="1"/>
              <a:t>Программная</a:t>
            </a:r>
            <a:r>
              <a:rPr dirty="0"/>
              <a:t> </a:t>
            </a:r>
            <a:r>
              <a:rPr dirty="0" err="1"/>
              <a:t>инженерия</a:t>
            </a:r>
            <a:r>
              <a:rPr dirty="0"/>
              <a:t>»</a:t>
            </a:r>
            <a:br>
              <a:rPr dirty="0"/>
            </a:br>
            <a:r>
              <a:rPr dirty="0"/>
              <a:t>Колесников Владислав </a:t>
            </a:r>
            <a:r>
              <a:rPr dirty="0" err="1"/>
              <a:t>Геннадьевич</a:t>
            </a:r>
            <a:r>
              <a:rPr dirty="0"/>
              <a:t>  |  </a:t>
            </a:r>
            <a:r>
              <a:rPr dirty="0" err="1"/>
              <a:t>группа</a:t>
            </a:r>
            <a:r>
              <a:rPr dirty="0"/>
              <a:t> ПИЖ-б-о-23-1(1)</a:t>
            </a:r>
            <a:br>
              <a:rPr dirty="0"/>
            </a:br>
            <a:r>
              <a:rPr dirty="0" err="1"/>
              <a:t>Руководитель</a:t>
            </a:r>
            <a:r>
              <a:rPr dirty="0"/>
              <a:t>: С.В. </a:t>
            </a:r>
            <a:r>
              <a:rPr dirty="0" err="1"/>
              <a:t>Свистунов</a:t>
            </a:r>
            <a:r>
              <a:rPr dirty="0"/>
              <a:t>  |  СКФУ,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Актуальность и цель проекта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rPr dirty="0" err="1"/>
              <a:t>Проблема</a:t>
            </a:r>
            <a:r>
              <a:rPr dirty="0"/>
              <a:t>: </a:t>
            </a:r>
            <a:r>
              <a:rPr dirty="0" err="1"/>
              <a:t>инвестору</a:t>
            </a:r>
            <a:r>
              <a:rPr dirty="0"/>
              <a:t> </a:t>
            </a:r>
            <a:r>
              <a:rPr dirty="0" err="1"/>
              <a:t>требуется</a:t>
            </a:r>
            <a:r>
              <a:rPr dirty="0"/>
              <a:t> </a:t>
            </a:r>
            <a:r>
              <a:rPr dirty="0" err="1"/>
              <a:t>множество</a:t>
            </a:r>
            <a:r>
              <a:rPr dirty="0"/>
              <a:t> </a:t>
            </a:r>
            <a:r>
              <a:rPr dirty="0" err="1"/>
              <a:t>приложений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разных</a:t>
            </a:r>
            <a:r>
              <a:rPr dirty="0"/>
              <a:t> </a:t>
            </a:r>
            <a:r>
              <a:rPr dirty="0" err="1"/>
              <a:t>брокеров</a:t>
            </a: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rPr dirty="0" err="1"/>
              <a:t>Сложности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анализом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автоматизацией</a:t>
            </a:r>
            <a:r>
              <a:rPr dirty="0"/>
              <a:t> </a:t>
            </a:r>
            <a:r>
              <a:rPr dirty="0" err="1"/>
              <a:t>операций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нескольким</a:t>
            </a:r>
            <a:r>
              <a:rPr dirty="0"/>
              <a:t> </a:t>
            </a:r>
            <a:r>
              <a:rPr dirty="0" err="1"/>
              <a:t>счетам</a:t>
            </a: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rPr dirty="0" err="1"/>
              <a:t>Решение</a:t>
            </a:r>
            <a:r>
              <a:rPr dirty="0"/>
              <a:t>: </a:t>
            </a:r>
            <a:r>
              <a:rPr dirty="0" err="1"/>
              <a:t>единая</a:t>
            </a:r>
            <a:r>
              <a:rPr dirty="0"/>
              <a:t> </a:t>
            </a:r>
            <a:r>
              <a:rPr dirty="0" err="1"/>
              <a:t>платформа-агрегатор</a:t>
            </a:r>
            <a:r>
              <a:rPr dirty="0"/>
              <a:t> </a:t>
            </a:r>
            <a:r>
              <a:rPr dirty="0" err="1"/>
              <a:t>всех</a:t>
            </a:r>
            <a:r>
              <a:rPr dirty="0"/>
              <a:t> </a:t>
            </a:r>
            <a:r>
              <a:rPr dirty="0" err="1"/>
              <a:t>брокерских</a:t>
            </a:r>
            <a:r>
              <a:rPr dirty="0"/>
              <a:t> </a:t>
            </a:r>
            <a:r>
              <a:rPr dirty="0" err="1"/>
              <a:t>счетов</a:t>
            </a: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rPr dirty="0" err="1"/>
              <a:t>Комплексная</a:t>
            </a:r>
            <a:r>
              <a:rPr dirty="0"/>
              <a:t> </a:t>
            </a:r>
            <a:r>
              <a:rPr dirty="0" err="1"/>
              <a:t>аналитика</a:t>
            </a:r>
            <a:r>
              <a:rPr dirty="0"/>
              <a:t> </a:t>
            </a:r>
            <a:r>
              <a:rPr dirty="0" err="1"/>
              <a:t>портфеля</a:t>
            </a:r>
            <a:r>
              <a:rPr dirty="0"/>
              <a:t>, </a:t>
            </a:r>
            <a:r>
              <a:rPr dirty="0" err="1"/>
              <a:t>торговля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отчётность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одном</a:t>
            </a:r>
            <a:r>
              <a:rPr dirty="0"/>
              <a:t> </a:t>
            </a:r>
            <a:r>
              <a:rPr dirty="0" err="1"/>
              <a:t>месте</a:t>
            </a: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rPr dirty="0" err="1"/>
              <a:t>Цели</a:t>
            </a:r>
            <a:r>
              <a:rPr dirty="0"/>
              <a:t>: </a:t>
            </a:r>
            <a:r>
              <a:rPr dirty="0" err="1"/>
              <a:t>сократить</a:t>
            </a:r>
            <a:r>
              <a:rPr dirty="0"/>
              <a:t> </a:t>
            </a:r>
            <a:r>
              <a:rPr dirty="0" err="1"/>
              <a:t>время</a:t>
            </a:r>
            <a:r>
              <a:rPr dirty="0"/>
              <a:t> </a:t>
            </a:r>
            <a:r>
              <a:rPr dirty="0" err="1"/>
              <a:t>анализа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40%, </a:t>
            </a:r>
            <a:r>
              <a:rPr dirty="0" err="1"/>
              <a:t>снизить</a:t>
            </a:r>
            <a:r>
              <a:rPr dirty="0"/>
              <a:t> </a:t>
            </a:r>
            <a:r>
              <a:rPr dirty="0" err="1"/>
              <a:t>ошибки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90%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rPr dirty="0" err="1"/>
              <a:t>Автоматизация</a:t>
            </a:r>
            <a:r>
              <a:rPr dirty="0"/>
              <a:t> 80% </a:t>
            </a:r>
            <a:r>
              <a:rPr dirty="0" err="1"/>
              <a:t>рутинных</a:t>
            </a:r>
            <a:r>
              <a:rPr dirty="0"/>
              <a:t> </a:t>
            </a:r>
            <a:r>
              <a:rPr dirty="0" err="1"/>
              <a:t>операций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1. Аналитическая часть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SWOT-анализ и экономика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28474" y="1142087"/>
            <a:ext cx="2301375" cy="2713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07AFF"/>
                </a:solidFill>
              </a:defRPr>
            </a:pPr>
            <a:r>
              <a:rPr dirty="0" err="1"/>
              <a:t>Сильные</a:t>
            </a:r>
            <a:r>
              <a:rPr dirty="0"/>
              <a:t> </a:t>
            </a:r>
            <a:r>
              <a:rPr dirty="0" err="1"/>
              <a:t>стороны</a:t>
            </a: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rPr dirty="0" err="1"/>
              <a:t>Единый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всех</a:t>
            </a:r>
            <a:r>
              <a:rPr dirty="0"/>
              <a:t> </a:t>
            </a:r>
            <a:r>
              <a:rPr dirty="0" err="1"/>
              <a:t>брокеров</a:t>
            </a: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rPr dirty="0" err="1"/>
              <a:t>Глубокая</a:t>
            </a:r>
            <a:r>
              <a:rPr dirty="0"/>
              <a:t> </a:t>
            </a:r>
            <a:r>
              <a:rPr dirty="0" err="1"/>
              <a:t>аналитика</a:t>
            </a:r>
            <a:r>
              <a:rPr dirty="0"/>
              <a:t> </a:t>
            </a:r>
            <a:r>
              <a:rPr dirty="0" err="1"/>
              <a:t>портфеля</a:t>
            </a: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rPr dirty="0" err="1"/>
              <a:t>Масштабируемая</a:t>
            </a:r>
            <a:r>
              <a:rPr dirty="0"/>
              <a:t> </a:t>
            </a:r>
            <a:r>
              <a:rPr dirty="0" err="1"/>
              <a:t>архитектура</a:t>
            </a:r>
            <a:r>
              <a:rPr dirty="0"/>
              <a:t> PCMEF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9849" y="1142087"/>
            <a:ext cx="2461846" cy="4329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07AFF"/>
                </a:solidFill>
              </a:defRPr>
            </a:pPr>
            <a:r>
              <a:rPr dirty="0"/>
              <a:t>Слабые </a:t>
            </a:r>
            <a:r>
              <a:rPr dirty="0" err="1"/>
              <a:t>стороны</a:t>
            </a:r>
            <a:r>
              <a:rPr dirty="0"/>
              <a:t> / </a:t>
            </a:r>
            <a:r>
              <a:rPr dirty="0" err="1"/>
              <a:t>Угрозы</a:t>
            </a: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rPr dirty="0" err="1"/>
              <a:t>Зависимость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API </a:t>
            </a:r>
            <a:r>
              <a:rPr dirty="0" err="1"/>
              <a:t>брокеров</a:t>
            </a: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rPr dirty="0" err="1"/>
              <a:t>Высокие</a:t>
            </a:r>
            <a:r>
              <a:rPr dirty="0"/>
              <a:t> </a:t>
            </a:r>
            <a:r>
              <a:rPr dirty="0" err="1"/>
              <a:t>требования</a:t>
            </a:r>
            <a:r>
              <a:rPr dirty="0"/>
              <a:t> </a:t>
            </a:r>
            <a:r>
              <a:rPr dirty="0" err="1"/>
              <a:t>к</a:t>
            </a:r>
            <a:r>
              <a:rPr dirty="0"/>
              <a:t> </a:t>
            </a:r>
            <a:r>
              <a:rPr dirty="0" err="1"/>
              <a:t>безопасности</a:t>
            </a: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rPr dirty="0"/>
              <a:t>Конкуренция </a:t>
            </a:r>
            <a:r>
              <a:rPr dirty="0" err="1"/>
              <a:t>крупных</a:t>
            </a:r>
            <a:r>
              <a:rPr dirty="0"/>
              <a:t> </a:t>
            </a:r>
            <a:r>
              <a:rPr dirty="0" err="1"/>
              <a:t>финтех-сервисов</a:t>
            </a: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rPr dirty="0"/>
              <a:t>ROI: </a:t>
            </a:r>
            <a:r>
              <a:rPr dirty="0" err="1"/>
              <a:t>окупаемость</a:t>
            </a:r>
            <a:r>
              <a:rPr dirty="0"/>
              <a:t> ~53 </a:t>
            </a:r>
            <a:r>
              <a:rPr dirty="0" err="1"/>
              <a:t>месяца</a:t>
            </a: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rPr dirty="0" err="1"/>
              <a:t>Экономия</a:t>
            </a:r>
            <a:r>
              <a:rPr dirty="0"/>
              <a:t>: 404 000 </a:t>
            </a:r>
            <a:r>
              <a:rPr dirty="0" err="1"/>
              <a:t>руб</a:t>
            </a:r>
            <a:r>
              <a:rPr dirty="0"/>
              <a:t>/</a:t>
            </a:r>
            <a:r>
              <a:rPr dirty="0" err="1"/>
              <a:t>год</a:t>
            </a:r>
            <a:endParaRPr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D8A0DCA-745C-2111-9A8A-B07821CDA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9014"/>
            <a:ext cx="7470946" cy="39729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2. Проектная часть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Архитектура PCMEF (распределённая)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DD898CD-F768-DFE1-00F6-B379C3861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397" y="1005840"/>
            <a:ext cx="4439323" cy="404680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946DEE1-339A-E0A0-B442-F6C45DFC7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3661117"/>
            <a:ext cx="4453582" cy="30597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Технологический стек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5886C9A-F356-8A9D-8D82-FE3BD482151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915508" y="1570892"/>
            <a:ext cx="5896707" cy="1858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027" name="Рисунок 3">
            <a:extLst>
              <a:ext uri="{FF2B5EF4-FFF2-40B4-BE49-F238E27FC236}">
                <a16:creationId xmlns:a16="http://schemas.microsoft.com/office/drawing/2014/main" id="{3FE735F8-BC1E-6DF1-85F4-AC0C1259C1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09" y="1896793"/>
            <a:ext cx="12047276" cy="377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Доменная модель (10 сущностей)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User — пользователь (email, BCrypt-пароль, soft delete)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Broker — справочник брокеров (5 штук, seed V11)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InvestmentAccount — привязанный счёт (AES-256-GCM токен)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Portfolio — портфель 1:1 к пользователю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Asset — позиция: ticker, qty, avg_price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TradeOrder — ордер BUY/SELL (PENDING → FILLED/CANCELLED)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Transaction — финансовая транзакция (soft delete)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MarketData — кэш рыночных котировок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Notification — уведомления (ORDER_FILLED, SYNC_ERROR...)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Report — метаданные отчётов (PDF/CSV, async)</a:t>
            </a:r>
          </a:p>
          <a:p>
            <a:pPr>
              <a:spcBef>
                <a:spcPts val="1600"/>
              </a:spcBef>
              <a:defRPr sz="1400">
                <a:solidFill>
                  <a:srgbClr val="666666"/>
                </a:solidFill>
              </a:defRPr>
            </a:pPr>
            <a:r>
              <a:t>UUID PK, FetchType.LAZY, soft delete для финансовых сущностей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77BE81C-04C2-4A72-0E34-4CB01769721E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8513796" y="3428999"/>
            <a:ext cx="1028220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2049" name="Рисунок 1">
            <a:extLst>
              <a:ext uri="{FF2B5EF4-FFF2-40B4-BE49-F238E27FC236}">
                <a16:creationId xmlns:a16="http://schemas.microsoft.com/office/drawing/2014/main" id="{46541A7F-020F-5154-E114-CABFE5D156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4868" y="3903784"/>
            <a:ext cx="4817131" cy="2966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Варианты использования (UC-001 — UC-004)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45528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rPr dirty="0"/>
              <a:t>UC-001: </a:t>
            </a:r>
            <a:r>
              <a:rPr dirty="0" err="1"/>
              <a:t>Регистрация</a:t>
            </a:r>
            <a:r>
              <a:rPr dirty="0"/>
              <a:t> </a:t>
            </a:r>
            <a:r>
              <a:rPr dirty="0" err="1"/>
              <a:t>пользователя</a:t>
            </a: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rPr dirty="0"/>
              <a:t>    → </a:t>
            </a:r>
            <a:r>
              <a:rPr dirty="0" err="1"/>
              <a:t>createUser</a:t>
            </a:r>
            <a:r>
              <a:rPr dirty="0"/>
              <a:t>() → </a:t>
            </a:r>
            <a:r>
              <a:rPr dirty="0" err="1"/>
              <a:t>BCrypt</a:t>
            </a:r>
            <a:r>
              <a:rPr dirty="0"/>
              <a:t> → Portfolio → save()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rPr dirty="0"/>
              <a:t>UC-002: </a:t>
            </a:r>
            <a:r>
              <a:rPr dirty="0" err="1"/>
              <a:t>Подключение</a:t>
            </a:r>
            <a:r>
              <a:rPr dirty="0"/>
              <a:t> </a:t>
            </a:r>
            <a:r>
              <a:rPr dirty="0" err="1"/>
              <a:t>брокерского</a:t>
            </a:r>
            <a:r>
              <a:rPr dirty="0"/>
              <a:t> </a:t>
            </a:r>
            <a:r>
              <a:rPr dirty="0" err="1"/>
              <a:t>счёта</a:t>
            </a: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rPr dirty="0"/>
              <a:t>    → </a:t>
            </a:r>
            <a:r>
              <a:rPr dirty="0" err="1"/>
              <a:t>validateToken</a:t>
            </a:r>
            <a:r>
              <a:rPr dirty="0"/>
              <a:t>() → AES-256-GCM encrypt → save()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rPr dirty="0"/>
              <a:t>UC-003: Просмотр </a:t>
            </a:r>
            <a:r>
              <a:rPr dirty="0" err="1"/>
              <a:t>аналитики</a:t>
            </a:r>
            <a:r>
              <a:rPr dirty="0"/>
              <a:t> </a:t>
            </a:r>
            <a:r>
              <a:rPr dirty="0" err="1"/>
              <a:t>портфеля</a:t>
            </a: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rPr dirty="0"/>
              <a:t>    → </a:t>
            </a:r>
            <a:r>
              <a:rPr dirty="0" err="1"/>
              <a:t>buildAnalytics</a:t>
            </a:r>
            <a:r>
              <a:rPr dirty="0"/>
              <a:t>() → </a:t>
            </a:r>
            <a:r>
              <a:rPr dirty="0" err="1"/>
              <a:t>MarketClient.getPrices</a:t>
            </a:r>
            <a:r>
              <a:rPr dirty="0"/>
              <a:t>() → P&amp;L </a:t>
            </a:r>
            <a:r>
              <a:rPr dirty="0" err="1"/>
              <a:t>расчёт</a:t>
            </a: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rPr dirty="0"/>
              <a:t>UC-004: </a:t>
            </a:r>
            <a:r>
              <a:rPr dirty="0" err="1"/>
              <a:t>Создание</a:t>
            </a:r>
            <a:r>
              <a:rPr dirty="0"/>
              <a:t> </a:t>
            </a:r>
            <a:r>
              <a:rPr dirty="0" err="1"/>
              <a:t>торговой</a:t>
            </a:r>
            <a:r>
              <a:rPr dirty="0"/>
              <a:t> </a:t>
            </a:r>
            <a:r>
              <a:rPr dirty="0" err="1"/>
              <a:t>заявки</a:t>
            </a: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rPr dirty="0"/>
              <a:t>    → </a:t>
            </a:r>
            <a:r>
              <a:rPr dirty="0" err="1"/>
              <a:t>createOrder</a:t>
            </a:r>
            <a:r>
              <a:rPr dirty="0"/>
              <a:t>() → </a:t>
            </a:r>
            <a:r>
              <a:rPr dirty="0" err="1"/>
              <a:t>BrokerClient</a:t>
            </a:r>
            <a:r>
              <a:rPr dirty="0"/>
              <a:t> → Transaction → Notification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0B1EFB0-343B-F858-F4A5-6E827B003416}"/>
              </a:ext>
            </a:extLst>
          </p:cNvPr>
          <p:cNvSpPr>
            <a:spLocks noChangeArrowheads="1"/>
          </p:cNvSpPr>
          <p:nvPr/>
        </p:nvSpPr>
        <p:spPr bwMode="auto">
          <a:xfrm rot="4146484">
            <a:off x="4970585" y="1219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3073" name="Рисунок 1">
            <a:extLst>
              <a:ext uri="{FF2B5EF4-FFF2-40B4-BE49-F238E27FC236}">
                <a16:creationId xmlns:a16="http://schemas.microsoft.com/office/drawing/2014/main" id="{89DC3423-B76B-C9D7-07B9-BCF670FB9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2089" y="1005840"/>
            <a:ext cx="2194560" cy="5852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3. Реализационная часть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Слои Control и Mediator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07AFF"/>
                </a:solidFill>
              </a:defRPr>
            </a:pPr>
            <a:r>
              <a:t>7 REST-контроллеров (тонких)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AuthController — register, login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AccountController — connect, list, disconnect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PortfolioController — analytics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OrderController — create, list, cancel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SyncController — ручная синхронизация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NotificationController — list, markRead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ReportController — generate,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07AFF"/>
                </a:solidFill>
              </a:defRPr>
            </a:pPr>
            <a:r>
              <a:t>8 сервисов (бизнес-логика)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UserService — регистрация, BCrypt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AuthService — JWT-генерация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AccountService — AES, валидация, soft delete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AnalyticsService — P&amp;L расчёт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OrderService — ордер + транзакция + уведомление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SyncService + SyncScheduler (@Scheduled 15 мин)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ReportService (@Async PDF/CSV)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NotificationService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Применённые паттерны проектирования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Front Controller — DispatcherServlet → контроллеры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Service Layer (Mediator) — бизнес-логика в сервисах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Repository Pattern — Spring Data JPA, авто-генерация запросов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DTO Pattern — request/response DTO на границе API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Factory Pattern — создание User + Portfolio при регистрации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Strategy Pattern — BrokerClient адаптирует вызовы по api_base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Observer Pattern — автоматическое уведомление при исполнении ордера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Singleton — Spring beans в single scope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Мобильное приложение (8 экранов)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rPr dirty="0" err="1"/>
              <a:t>AuthStack</a:t>
            </a:r>
            <a:r>
              <a:rPr dirty="0"/>
              <a:t>: </a:t>
            </a:r>
            <a:r>
              <a:rPr dirty="0" err="1"/>
              <a:t>LoginScreen</a:t>
            </a:r>
            <a:r>
              <a:rPr dirty="0"/>
              <a:t>, </a:t>
            </a:r>
            <a:r>
              <a:rPr dirty="0" err="1"/>
              <a:t>RegisterScreen</a:t>
            </a: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rPr dirty="0" err="1"/>
              <a:t>MainTabs</a:t>
            </a:r>
            <a:r>
              <a:rPr dirty="0"/>
              <a:t> (4 </a:t>
            </a:r>
            <a:r>
              <a:rPr dirty="0" err="1"/>
              <a:t>таба</a:t>
            </a:r>
            <a:r>
              <a:rPr dirty="0"/>
              <a:t>):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rPr dirty="0"/>
              <a:t>    📊 </a:t>
            </a:r>
            <a:r>
              <a:rPr dirty="0" err="1"/>
              <a:t>PortfolioScreen</a:t>
            </a:r>
            <a:r>
              <a:rPr dirty="0"/>
              <a:t> — </a:t>
            </a:r>
            <a:r>
              <a:rPr dirty="0" err="1"/>
              <a:t>стоимость</a:t>
            </a:r>
            <a:r>
              <a:rPr dirty="0"/>
              <a:t>, P&amp;L, </a:t>
            </a:r>
            <a:r>
              <a:rPr dirty="0" err="1"/>
              <a:t>список</a:t>
            </a:r>
            <a:r>
              <a:rPr dirty="0"/>
              <a:t> </a:t>
            </a:r>
            <a:r>
              <a:rPr dirty="0" err="1"/>
              <a:t>AssetCard</a:t>
            </a: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rPr dirty="0"/>
              <a:t>    📋 </a:t>
            </a:r>
            <a:r>
              <a:rPr dirty="0" err="1"/>
              <a:t>OrderListScreen</a:t>
            </a:r>
            <a:r>
              <a:rPr dirty="0"/>
              <a:t> — </a:t>
            </a:r>
            <a:r>
              <a:rPr dirty="0" err="1"/>
              <a:t>ордера</a:t>
            </a:r>
            <a:r>
              <a:rPr dirty="0"/>
              <a:t>, </a:t>
            </a:r>
            <a:r>
              <a:rPr dirty="0" err="1"/>
              <a:t>статусы</a:t>
            </a:r>
            <a:r>
              <a:rPr dirty="0"/>
              <a:t>, infinite scroll, </a:t>
            </a:r>
            <a:r>
              <a:rPr dirty="0" err="1"/>
              <a:t>отмена</a:t>
            </a: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rPr dirty="0"/>
              <a:t>    🏦 </a:t>
            </a:r>
            <a:r>
              <a:rPr dirty="0" err="1"/>
              <a:t>AccountListScreen</a:t>
            </a:r>
            <a:r>
              <a:rPr dirty="0"/>
              <a:t> — </a:t>
            </a:r>
            <a:r>
              <a:rPr dirty="0" err="1"/>
              <a:t>счета</a:t>
            </a:r>
            <a:r>
              <a:rPr dirty="0"/>
              <a:t>, Sync/Disconnect, FAB «+ Connect»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rPr dirty="0"/>
              <a:t>    🔔 </a:t>
            </a:r>
            <a:r>
              <a:rPr dirty="0" err="1"/>
              <a:t>NotificationScreen</a:t>
            </a:r>
            <a:r>
              <a:rPr dirty="0"/>
              <a:t> — </a:t>
            </a:r>
            <a:r>
              <a:rPr dirty="0" err="1"/>
              <a:t>типы</a:t>
            </a:r>
            <a:r>
              <a:rPr dirty="0"/>
              <a:t>, </a:t>
            </a:r>
            <a:r>
              <a:rPr dirty="0" err="1"/>
              <a:t>иконки</a:t>
            </a:r>
            <a:r>
              <a:rPr dirty="0"/>
              <a:t>, mark-as-read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rPr dirty="0" err="1"/>
              <a:t>Модальные</a:t>
            </a:r>
            <a:r>
              <a:rPr dirty="0"/>
              <a:t>: </a:t>
            </a:r>
            <a:r>
              <a:rPr dirty="0" err="1"/>
              <a:t>ConnectBrokerScreen</a:t>
            </a:r>
            <a:r>
              <a:rPr dirty="0"/>
              <a:t>, </a:t>
            </a:r>
            <a:r>
              <a:rPr dirty="0" err="1"/>
              <a:t>TradeOrderForm</a:t>
            </a: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rPr dirty="0" err="1"/>
              <a:t>Навигация</a:t>
            </a:r>
            <a:r>
              <a:rPr dirty="0"/>
              <a:t>: </a:t>
            </a:r>
            <a:r>
              <a:rPr dirty="0" err="1"/>
              <a:t>RootNavigator</a:t>
            </a:r>
            <a:r>
              <a:rPr dirty="0"/>
              <a:t> (observer) → Auth vs Main </a:t>
            </a:r>
            <a:r>
              <a:rPr dirty="0" err="1"/>
              <a:t>по</a:t>
            </a:r>
            <a:r>
              <a:rPr dirty="0"/>
              <a:t> JWT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DBFBA44-085A-0627-1F16-D393EF498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2677" y="1005840"/>
            <a:ext cx="2613941" cy="58497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Безопасность и защита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JWT (HMAC-SHA256) — stateless аутентификация, TTL 1 час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BCrypt (strength 12) — хэширование паролей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AES-256-GCM — шифрование брокерских токенов (12-байт IV)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DTO на границе API — сущности не утекают клиенту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CSRF отключён — stateless API без cookies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Параметризованные запросы — защита от SQL-инъекций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GlobalExceptionHandler — структурированные ошибки без стек-трейсов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Soft delete — финансовые данные не удаляются физически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REST API — спецификация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Base URL: /api/v1  |  Формат: JSON  |  Документация: Swagger UI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POST /auth/register → 201  |  POST /auth/login → 200 + JWT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POST /accounts/connect → 201  |  GET /accounts → 200  |  DELETE → 204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GET /portfolio/analytics → 200 (P&amp;L, assets, currentPrice)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POST /orders → 201  |  GET /orders → 200 (Page)  |  DELETE → 204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POST /sync/accounts/{id} → 202  |  GET /notifications → 200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POST /reports/generate → 202 (async)  |  GET /reports/{id} → 200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Ошибки: 400 VALIDATION, 401 UNAUTHORIZED, 403 FORBIDDEN,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         404 NOT_FOUND, 409 CONFLICT, 500 INTERNAL_ERROR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4. Тестирование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Результаты тестирования — 40 тестов, 0 ошибок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Модульные тесты (JUnit 5 + Mockito): 18 тестов, 5 файлов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    UserServiceTest (3), AuthServiceTest (3), AccountServiceTest (6),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    AnalyticsServiceTest (4), OrderServiceTest (2)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Интеграционные тесты (@DataJpaTest): 2 теста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    UserRepositoryTest — findByEmail, existsByEmail с soft delete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Контроллерные тесты (@WebMvcTest): 16 тестов, 3 файла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    AuthControllerTest (6), AccountControllerTest (5), OrderControllerTest (5)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JaCoCo — покрытие кода (исключены DTO, entity, config)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5. Развёртывание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Инфраструктура и запуск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07AFF"/>
                </a:solidFill>
              </a:defRPr>
            </a:pPr>
            <a:r>
              <a:t>Docker Compose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PostgreSQL 15 Alpine (порт 5432)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pgAdmin 4 (порт 5050)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Volume postgres_data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Healthcheck: pg_isready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07AFF"/>
                </a:solidFill>
              </a:defRPr>
            </a:pPr>
            <a:r>
              <a:t>Скрипты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./start.sh — запуск всего проекта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./start.sh ios — iOS-симулятор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./start.sh backend — только backend + БД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./stop.sh — остановка всех сервисов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Metro bundler на порту 8082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adb reverse tcp:8082 для эмулятора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6. Управление проектом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WBS и оценка трудозатрат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14 фаз разработки: от инициализации до документации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Объём проекта: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    Backend: ~3500 строк Java  |  Mobile: ~2500 строк TypeScript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    Тесты: ~1000 строк  |  Миграции: ~400 строк SQL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    Итого: ~7600 SLOC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COCOMO (Basic, Organic): ~20 человеко-месяцев при полной занятости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Фактически: ~8 недель при одном разработчике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Управление рисками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Изменение API брокеров → Strategy-паттерн, адаптеры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Утечка брокерских токенов → AES-256-GCM, не в логах и API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Потеря данных → soft delete, PostgreSQL WAL, Docker volumes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N+1 запросов → LAZY loading, пагинация, целевые запросы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Устаревание JWT → TTL 1 час, auto-logout при 401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Конфликт портов → Metro на 8082, adb reverse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Заключение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Результаты проекта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10 JPA-сущностей, 7 перечислений, 13 Flyway-миграций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7 REST-контроллеров, 8 сервисов бизнес-логики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8 экранов мобильного приложения, 5 MobX-хранилищ, 7 API-модулей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40 автоматических тестов — 100% success rate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OpenAPI-документация (Swagger UI)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Безопасность: BCrypt + AES-256-GCM + JWT + DTO + soft delete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Архитектура PCMEF с полным соблюдением направления зависимостей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Перспективы развития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WebSocket-уведомления — push вместо pull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Микросервисная декомпозиция — SyncService и ReportService отдельно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Новые брокеры — Тинькофф, Сбербанк, Interactive Brokers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Redis — кэширование котировок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CI/CD — GitHub Actions: сборка → тесты → деплой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2FA — TOTP для повышения безопасности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 err="1"/>
              <a:t>Спасибо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внимание</a:t>
            </a:r>
            <a:r>
              <a:rPr dirty="0"/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12</TotalTime>
  <Words>1212</Words>
  <Application>Microsoft Macintosh PowerPoint</Application>
  <PresentationFormat>Широкоэкранный</PresentationFormat>
  <Paragraphs>175</Paragraphs>
  <Slides>26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Vlad Kolesnikov</cp:lastModifiedBy>
  <cp:revision>7</cp:revision>
  <dcterms:created xsi:type="dcterms:W3CDTF">2013-01-27T09:14:16Z</dcterms:created>
  <dcterms:modified xsi:type="dcterms:W3CDTF">2026-05-25T23:41:16Z</dcterms:modified>
  <cp:category/>
</cp:coreProperties>
</file>